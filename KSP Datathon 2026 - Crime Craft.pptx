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279e9db54d7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279e9db54d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79e9db54d7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279e9db54d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79e9db54d7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79e9db54d7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79e9db54d7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279e9db54d7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279e9db54d7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279e9db54d7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79e9db54d7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79e9db54d7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79e9db54d7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79e9db54d7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e3fd15ea4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e3fd15ea4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79e9db54d7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279e9db54d7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79e9db54d7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79e9db54d7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79e9db54d7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79e9db54d7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79e9db54d7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279e9db54d7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79e9db54d7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279e9db54d7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79e9db54d7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79e9db54d7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79e9db54d7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279e9db54d7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hyperlink" Target="https://github.com/jayant-01/crime-craft" TargetMode="External"/><Relationship Id="rId5" Type="http://schemas.openxmlformats.org/officeDocument/2006/relationships/hyperlink" Target="https://crime-craft-api-50043858253.development.catalystappsail.in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457200" y="2980944"/>
            <a:ext cx="8229600" cy="193852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200"/>
              </a:spcAft>
              <a:buNone/>
            </a:pPr>
            <a:r>
              <a:rPr b="1" sz="1250">
                <a:solidFill>
                  <a:srgbClr val="1A237E"/>
                </a:solidFill>
              </a:rPr>
              <a:t>Team name: </a:t>
            </a:r>
            <a:r>
              <a:rPr sz="1250">
                <a:solidFill>
                  <a:srgbClr val="141828"/>
                </a:solidFill>
              </a:rPr>
              <a:t>Crime Craft</a:t>
            </a:r>
            <a:endParaRPr b="1" sz="1500"/>
          </a:p>
          <a:p>
            <a:pPr>
              <a:spcAft>
                <a:spcPts val="200"/>
              </a:spcAft>
            </a:pPr>
            <a:r>
              <a:rPr b="1" sz="1250">
                <a:solidFill>
                  <a:srgbClr val="1A237E"/>
                </a:solidFill>
              </a:rPr>
              <a:t>Team leader name: </a:t>
            </a:r>
            <a:r>
              <a:rPr sz="1250">
                <a:solidFill>
                  <a:srgbClr val="141828"/>
                </a:solidFill>
              </a:rPr>
              <a:t>Jayant Agarwal</a:t>
            </a:r>
          </a:p>
          <a:p>
            <a:pPr>
              <a:spcAft>
                <a:spcPts val="200"/>
              </a:spcAft>
            </a:pPr>
            <a:r>
              <a:rPr b="1" sz="1250">
                <a:solidFill>
                  <a:srgbClr val="1A237E"/>
                </a:solidFill>
              </a:rPr>
              <a:t>Team size: </a:t>
            </a:r>
            <a:r>
              <a:rPr sz="1250">
                <a:solidFill>
                  <a:srgbClr val="141828"/>
                </a:solidFill>
              </a:rPr>
              <a:t>&lt;fill in&gt;</a:t>
            </a: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b="1" sz="1200">
                <a:solidFill>
                  <a:srgbClr val="1A237E"/>
                </a:solidFill>
              </a:rPr>
              <a:t>Problem Statement:</a:t>
            </a:r>
          </a:p>
          <a:p>
            <a:r>
              <a:rPr sz="1050">
                <a:solidFill>
                  <a:srgbClr val="141828"/>
                </a:solidFill>
              </a:rPr>
              <a:t>Citizens and KSP officers lack a fast, safe way to query the state's case corpus. Crime Craft is a multilingual (EN / HI / KN), role-aware conversational AI over KSP case data: citizens get redacted public answers; officers get full case context, analytics, criminal-network views and gated, explainable predictive signals — every access PII-safe and audit-logged.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4"/>
          <p:cNvSpPr txBox="1"/>
          <p:nvPr/>
        </p:nvSpPr>
        <p:spPr>
          <a:xfrm>
            <a:off x="318650" y="69797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/>
              <a:t>Brief about the solution</a:t>
            </a:r>
            <a:endParaRPr b="1" sz="1600"/>
          </a:p>
        </p:txBody>
      </p:sp>
      <p:sp>
        <p:nvSpPr>
          <p:cNvPr id="61" name="TextBox 60"/>
          <p:cNvSpPr txBox="1"/>
          <p:nvPr/>
        </p:nvSpPr>
        <p:spPr>
          <a:xfrm>
            <a:off x="502920" y="1417320"/>
            <a:ext cx="81381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050" i="1">
                <a:solidFill>
                  <a:srgbClr val="6B7284"/>
                </a:solidFill>
              </a:rPr>
              <a:t>Crime Craft turns KSP's case records into answers — a chat-first, multilingual intelligence layer for citizens and police.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150">
                <a:solidFill>
                  <a:srgbClr val="141828"/>
                </a:solidFill>
              </a:rPr>
              <a:t>•  Ask in natural language (text or voice); answers are grounded in real case records via Retrieval-Augmented Generation (RAG) and cite their source FIR / case IDs — no hallucinated facts.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150">
                <a:solidFill>
                  <a:srgbClr val="141828"/>
                </a:solidFill>
              </a:rPr>
              <a:t>•  One backend, two audiences: citizens see strictly redacted public info; officers &amp; senior officers get full dossiers, analytics, network graphs and predictive tools — enforced at a single access chokepoint.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150">
                <a:solidFill>
                  <a:srgbClr val="141828"/>
                </a:solidFill>
              </a:rPr>
              <a:t>•  Privacy-first &amp; governed: PII (names, Aadhaar, phone, addresses) redacted at ingest; every request audit-logged; DPDP-aligned data classification.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150">
                <a:solidFill>
                  <a:srgbClr val="141828"/>
                </a:solidFill>
              </a:rPr>
              <a:t>•  Not a model trained from scratch — RAG over a hosted LLM keeps it accurate, low-cost and fast to ship over a small corpus.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150">
                <a:solidFill>
                  <a:srgbClr val="141828"/>
                </a:solidFill>
              </a:rPr>
              <a:t>•  Cloud-native on Zoho Catalyst (auth, datastore, hosting, cron) — already deployed and demoable.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5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5"/>
          <p:cNvSpPr txBox="1"/>
          <p:nvPr/>
        </p:nvSpPr>
        <p:spPr>
          <a:xfrm>
            <a:off x="240800" y="710650"/>
            <a:ext cx="8784300" cy="14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000000"/>
                </a:solidFill>
              </a:rPr>
              <a:t>Opportunities</a:t>
            </a:r>
            <a:endParaRPr b="1" sz="1600">
              <a:solidFill>
                <a:srgbClr val="000000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AutoNum type="alphaLcPeriod"/>
            </a:pPr>
            <a:r>
              <a:rPr b="1" lang="en-GB" sz="1600">
                <a:solidFill>
                  <a:srgbClr val="000000"/>
                </a:solidFill>
              </a:rPr>
              <a:t>How different is it from any of the other existing ideas?</a:t>
            </a:r>
            <a:endParaRPr b="1" sz="1600">
              <a:solidFill>
                <a:srgbClr val="000000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AutoNum type="alphaLcPeriod"/>
            </a:pPr>
            <a:r>
              <a:rPr b="1" lang="en-GB" sz="1600">
                <a:solidFill>
                  <a:srgbClr val="000000"/>
                </a:solidFill>
              </a:rPr>
              <a:t>How will it be able to solve the problem?</a:t>
            </a:r>
            <a:endParaRPr b="1" sz="1600">
              <a:solidFill>
                <a:srgbClr val="000000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AutoNum type="alphaLcPeriod"/>
            </a:pPr>
            <a:r>
              <a:rPr b="1" lang="en-GB" sz="1600">
                <a:solidFill>
                  <a:srgbClr val="000000"/>
                </a:solidFill>
              </a:rPr>
              <a:t>USP of the proposed solution</a:t>
            </a:r>
            <a:endParaRPr b="1" sz="16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595959"/>
              </a:solidFill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502920" y="2148840"/>
            <a:ext cx="81381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200" b="1">
                <a:solidFill>
                  <a:srgbClr val="1A237E"/>
                </a:solidFill>
              </a:rPr>
              <a:t>How different from existing ideas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50">
                <a:solidFill>
                  <a:srgbClr val="141828"/>
                </a:solidFill>
              </a:rPr>
              <a:t>•  Existing tools are static dashboards or keyword FIR search. Crime Craft is conversational, grounded, multilingual and role-aware in one interface.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50">
                <a:solidFill>
                  <a:srgbClr val="141828"/>
                </a:solidFill>
              </a:rPr>
              <a:t>•  Every answer cites its source case IDs (traceable, not a black box); the SAME pipeline serves public + police with different visibility — no parallel apps or hand-written per-route checks.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200" b="1">
                <a:solidFill>
                  <a:srgbClr val="1A237E"/>
                </a:solidFill>
              </a:rPr>
              <a:t>How it solves the problem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50">
                <a:solidFill>
                  <a:srgbClr val="141828"/>
                </a:solidFill>
              </a:rPr>
              <a:t>•  Cuts officer context-assembly from hours to seconds; gives citizens safe, redacted self-service on trends &amp; case status; auto-surfaces hotspots, trends and criminal-network links.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200" b="1">
                <a:solidFill>
                  <a:srgbClr val="1A237E"/>
                </a:solidFill>
              </a:rPr>
              <a:t>USP of the proposed solution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50">
                <a:solidFill>
                  <a:srgbClr val="141828"/>
                </a:solidFill>
              </a:rPr>
              <a:t>•  RAG-grounded answers with citations + PII redaction at ingest + full audit trail + explainable (SHAP) predictive scoring — governance is built in, DPDP-aligned. Trilingual (EN/HI/KN), text + voice.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6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6"/>
          <p:cNvSpPr txBox="1"/>
          <p:nvPr/>
        </p:nvSpPr>
        <p:spPr>
          <a:xfrm>
            <a:off x="195475" y="855225"/>
            <a:ext cx="86988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List of features offered by the solution</a:t>
            </a:r>
            <a:endParaRPr b="1" sz="1800"/>
          </a:p>
        </p:txBody>
      </p:sp>
      <p:sp>
        <p:nvSpPr>
          <p:cNvPr id="73" name="TextBox 72"/>
          <p:cNvSpPr txBox="1"/>
          <p:nvPr/>
        </p:nvSpPr>
        <p:spPr>
          <a:xfrm>
            <a:off x="502920" y="1417320"/>
            <a:ext cx="81381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50">
                <a:solidFill>
                  <a:srgbClr val="141828"/>
                </a:solidFill>
              </a:rPr>
              <a:t>•  Conversational RAG chat over the case corpus with source-case citations, in English / Hindi / Kannada.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50">
                <a:solidFill>
                  <a:srgbClr val="141828"/>
                </a:solidFill>
              </a:rPr>
              <a:t>•  Voice in &amp; out — Whisper speech-to-text + text-to-speech (read answers aloud).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50">
                <a:solidFill>
                  <a:srgbClr val="141828"/>
                </a:solidFill>
              </a:rPr>
              <a:t>•  Role-based access — Public / Officer / Senior Officer / Admin — enforced at one chokepoint.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50">
                <a:solidFill>
                  <a:srgbClr val="141828"/>
                </a:solidFill>
              </a:rPr>
              <a:t>•  Automatic PII redaction at ingest (names, Aadhaar, PAN, phone, vehicle reg., emails in free text).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50">
                <a:solidFill>
                  <a:srgbClr val="141828"/>
                </a:solidFill>
              </a:rPr>
              <a:t>•  Analytics dashboard — crime trends, top localities and hotspots over a recent window.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50">
                <a:solidFill>
                  <a:srgbClr val="141828"/>
                </a:solidFill>
              </a:rPr>
              <a:t>•  Interactive criminal-network graph linking cases and suspects (Cytoscape.js).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50">
                <a:solidFill>
                  <a:srgbClr val="141828"/>
                </a:solidFill>
              </a:rPr>
              <a:t>•  Recidivism risk scoring — senior-only, XGBoost + SHAP, advisory-only and audit-logged with a mandatory reason.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50">
                <a:solidFill>
                  <a:srgbClr val="141828"/>
                </a:solidFill>
              </a:rPr>
              <a:t>•  Full audit trail on every request; PDF export of conversations with a per-page traceable watermark.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50">
                <a:solidFill>
                  <a:srgbClr val="141828"/>
                </a:solidFill>
              </a:rPr>
              <a:t>•  Hourly delta ingest via Catalyst Cron; automatic query-language detection.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7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7"/>
          <p:cNvSpPr txBox="1"/>
          <p:nvPr/>
        </p:nvSpPr>
        <p:spPr>
          <a:xfrm>
            <a:off x="195475" y="830775"/>
            <a:ext cx="8772000" cy="5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Process flow diagram or Use-case diagram</a:t>
            </a:r>
            <a:endParaRPr b="1" sz="1800"/>
          </a:p>
        </p:txBody>
      </p:sp>
      <p:sp>
        <p:nvSpPr>
          <p:cNvPr id="79" name="TextBox 78"/>
          <p:cNvSpPr txBox="1"/>
          <p:nvPr/>
        </p:nvSpPr>
        <p:spPr>
          <a:xfrm>
            <a:off x="502920" y="1371600"/>
            <a:ext cx="813816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000" i="1">
                <a:solidFill>
                  <a:srgbClr val="6B7284"/>
                </a:solidFill>
              </a:rPr>
              <a:t>Query flow:  user query (text / voice)  →  auth + role resolve  →  role &amp; PII-filtered retrieval (vector search over case chunks)  →  grounded LLM generation with citations  →  audit log  →  response with citation chips.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640080" y="2057400"/>
            <a:ext cx="7863840" cy="2697480"/>
          </a:xfrm>
          <a:prstGeom prst="roundRect">
            <a:avLst/>
          </a:prstGeom>
          <a:solidFill>
            <a:srgbClr val="F4F6FA"/>
          </a:solidFill>
          <a:ln w="15875">
            <a:solidFill>
              <a:srgbClr val="B6BEC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i="1">
                <a:solidFill>
                  <a:srgbClr val="6B7284"/>
                </a:solidFill>
              </a:rPr>
              <a:t>🖼  Insert process-flow / use-case diagram here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8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8"/>
          <p:cNvSpPr txBox="1"/>
          <p:nvPr/>
        </p:nvSpPr>
        <p:spPr>
          <a:xfrm>
            <a:off x="207700" y="879650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Wireframes/Mock diagrams of the proposed solution (optional)</a:t>
            </a:r>
            <a:endParaRPr b="1" sz="1800"/>
          </a:p>
        </p:txBody>
      </p:sp>
      <p:sp>
        <p:nvSpPr>
          <p:cNvPr id="85" name="TextBox 84"/>
          <p:cNvSpPr txBox="1"/>
          <p:nvPr/>
        </p:nvSpPr>
        <p:spPr>
          <a:xfrm>
            <a:off x="502920" y="1478450"/>
            <a:ext cx="8138160" cy="3322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000" i="1">
                <a:solidFill>
                  <a:srgbClr val="6B7284"/>
                </a:solidFill>
              </a:rPr>
              <a:t>A working prototype already exists — drop UI mockups or live screenshots of the citizen and officer views below.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640080" y="2027090"/>
            <a:ext cx="7863840" cy="2727790"/>
          </a:xfrm>
          <a:prstGeom prst="roundRect">
            <a:avLst/>
          </a:prstGeom>
          <a:solidFill>
            <a:srgbClr val="F4F6FA"/>
          </a:solidFill>
          <a:ln w="15875">
            <a:solidFill>
              <a:srgbClr val="B6BEC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i="1">
                <a:solidFill>
                  <a:srgbClr val="6B7284"/>
                </a:solidFill>
              </a:rPr>
              <a:t>🖼  Insert wireframes / UI mockups (or screenshots of the deployed app)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9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9"/>
          <p:cNvSpPr txBox="1"/>
          <p:nvPr/>
        </p:nvSpPr>
        <p:spPr>
          <a:xfrm>
            <a:off x="171050" y="867425"/>
            <a:ext cx="88209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Architecture diagram of the proposed solution</a:t>
            </a:r>
            <a:endParaRPr b="1" sz="1800"/>
          </a:p>
        </p:txBody>
      </p:sp>
      <p:sp>
        <p:nvSpPr>
          <p:cNvPr id="91" name="TextBox 90"/>
          <p:cNvSpPr txBox="1"/>
          <p:nvPr/>
        </p:nvSpPr>
        <p:spPr>
          <a:xfrm>
            <a:off x="502920" y="1466225"/>
            <a:ext cx="8138160" cy="3334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000" i="1">
                <a:solidFill>
                  <a:srgbClr val="6B7284"/>
                </a:solidFill>
              </a:rPr>
              <a:t>React PWA  →  FastAPI gateway (RBAC + audit)  →  Chat/RAG · Analytics · Predictive services  →  Qdrant vector DB + Catalyst Datastore + ML models  →  hosted LLM + BGE-M3 multilingual embeddings. All on Zoho Catalyst.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640080" y="2152025"/>
            <a:ext cx="7863840" cy="2602855"/>
          </a:xfrm>
          <a:prstGeom prst="roundRect">
            <a:avLst/>
          </a:prstGeom>
          <a:solidFill>
            <a:srgbClr val="F4F6FA"/>
          </a:solidFill>
          <a:ln w="15875">
            <a:solidFill>
              <a:srgbClr val="B6BEC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i="1">
                <a:solidFill>
                  <a:srgbClr val="6B7284"/>
                </a:solidFill>
              </a:rPr>
              <a:t>🖼  Insert architecture diagram here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20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20"/>
          <p:cNvSpPr txBox="1"/>
          <p:nvPr/>
        </p:nvSpPr>
        <p:spPr>
          <a:xfrm>
            <a:off x="158825" y="855225"/>
            <a:ext cx="8784300" cy="4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Technologies to be used in the solution</a:t>
            </a:r>
            <a:endParaRPr b="1" sz="1800"/>
          </a:p>
        </p:txBody>
      </p:sp>
      <p:sp>
        <p:nvSpPr>
          <p:cNvPr id="97" name="TextBox 96"/>
          <p:cNvSpPr txBox="1"/>
          <p:nvPr/>
        </p:nvSpPr>
        <p:spPr>
          <a:xfrm>
            <a:off x="502920" y="1371600"/>
            <a:ext cx="813816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"/>
              </a:spcAft>
            </a:pPr>
            <a:r>
              <a:rPr sz="1150" b="1">
                <a:solidFill>
                  <a:srgbClr val="1A237E"/>
                </a:solidFill>
              </a:rPr>
              <a:t>Frontend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141828"/>
                </a:solidFill>
              </a:rPr>
              <a:t>•  React + Vite + TypeScript + Tailwind CSS; Cytoscape.js (network graph); MapLibre (maps).</a:t>
            </a:r>
          </a:p>
          <a:p>
            <a:pPr>
              <a:spcBef>
                <a:spcPts val="600"/>
              </a:spcBef>
              <a:spcAft>
                <a:spcPts val="100"/>
              </a:spcAft>
            </a:pPr>
            <a:r>
              <a:rPr sz="1150" b="1">
                <a:solidFill>
                  <a:srgbClr val="1A237E"/>
                </a:solidFill>
              </a:rPr>
              <a:t>Backend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141828"/>
                </a:solidFill>
              </a:rPr>
              <a:t>•  FastAPI (Python), Pydantic, JWT auth + RBAC, audit middleware; ~120 offline tests.</a:t>
            </a:r>
          </a:p>
          <a:p>
            <a:pPr>
              <a:spcBef>
                <a:spcPts val="600"/>
              </a:spcBef>
              <a:spcAft>
                <a:spcPts val="100"/>
              </a:spcAft>
            </a:pPr>
            <a:r>
              <a:rPr sz="1150" b="1">
                <a:solidFill>
                  <a:srgbClr val="1A237E"/>
                </a:solidFill>
              </a:rPr>
              <a:t>AI / RAG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141828"/>
                </a:solidFill>
              </a:rPr>
              <a:t>•  Hosted LLM (Claude / OpenRouter); BGE-M3 multilingual embeddings; Qdrant vector DB; RAG with prompt caching + source citations.</a:t>
            </a:r>
          </a:p>
          <a:p>
            <a:pPr>
              <a:spcBef>
                <a:spcPts val="600"/>
              </a:spcBef>
              <a:spcAft>
                <a:spcPts val="100"/>
              </a:spcAft>
            </a:pPr>
            <a:r>
              <a:rPr sz="1150" b="1">
                <a:solidFill>
                  <a:srgbClr val="1A237E"/>
                </a:solidFill>
              </a:rPr>
              <a:t>Predictive &amp; Voice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141828"/>
                </a:solidFill>
              </a:rPr>
              <a:t>•  XGBoost + SHAP (explainable recidivism); Whisper STT + Indic TTS.</a:t>
            </a:r>
          </a:p>
          <a:p>
            <a:pPr>
              <a:spcBef>
                <a:spcPts val="600"/>
              </a:spcBef>
              <a:spcAft>
                <a:spcPts val="100"/>
              </a:spcAft>
            </a:pPr>
            <a:r>
              <a:rPr sz="1150" b="1">
                <a:solidFill>
                  <a:srgbClr val="1A237E"/>
                </a:solidFill>
              </a:rPr>
              <a:t>Data / Privacy &amp; Infra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141828"/>
                </a:solidFill>
              </a:rPr>
              <a:t>•  Regex + NER PII redaction; DPDP-aligned OPEN / SENSITIVE / PII classification; Zoho Catalyst (AppSail, Datastore, Auth, Cron, File Store); Docker; GitHub Actions CI.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21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1"/>
          <p:cNvSpPr txBox="1"/>
          <p:nvPr/>
        </p:nvSpPr>
        <p:spPr>
          <a:xfrm>
            <a:off x="158825" y="855225"/>
            <a:ext cx="8784300" cy="4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List down Catalyst Services being used in the solution</a:t>
            </a:r>
            <a:endParaRPr b="1" sz="1800"/>
          </a:p>
        </p:txBody>
      </p:sp>
      <p:sp>
        <p:nvSpPr>
          <p:cNvPr id="103" name="TextBox 102"/>
          <p:cNvSpPr txBox="1"/>
          <p:nvPr/>
        </p:nvSpPr>
        <p:spPr>
          <a:xfrm>
            <a:off x="502920" y="1371600"/>
            <a:ext cx="813816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100">
                <a:solidFill>
                  <a:srgbClr val="141828"/>
                </a:solidFill>
              </a:rPr>
              <a:t>•  Catalyst AppSail — hosts the FastAPI backend and serves the React SPA (deployed as crime-craft-api).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100">
                <a:solidFill>
                  <a:srgbClr val="141828"/>
                </a:solidFill>
              </a:rPr>
              <a:t>•  Catalyst Authentication — hosted login and officer user/role management.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100">
                <a:solidFill>
                  <a:srgbClr val="141828"/>
                </a:solidFill>
              </a:rPr>
              <a:t>•  Catalyst Datastore — Cases, AuditLog, Conversations and CaseEmbeddings tables (queried via ZCQL).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100">
                <a:solidFill>
                  <a:srgbClr val="141828"/>
                </a:solidFill>
              </a:rPr>
              <a:t>•  Catalyst Cron + Functions — hourly ingest job that pulls new case CSVs and runs the redaction pipeline.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100">
                <a:solidFill>
                  <a:srgbClr val="141828"/>
                </a:solidFill>
              </a:rPr>
              <a:t>•  Catalyst File Store — inbox folder where KSP drops new case-data files for ingest.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100">
                <a:solidFill>
                  <a:srgbClr val="141828"/>
                </a:solidFill>
              </a:rPr>
              <a:t>•  Roadmap — Catalyst QuickML / Zia as managed RAG &amp; AutoML alternatives to self-hosting.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22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2"/>
          <p:cNvSpPr txBox="1"/>
          <p:nvPr/>
        </p:nvSpPr>
        <p:spPr>
          <a:xfrm>
            <a:off x="158825" y="818550"/>
            <a:ext cx="8845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Estimated implementation cost (optional)</a:t>
            </a:r>
            <a:endParaRPr b="1" sz="1800"/>
          </a:p>
        </p:txBody>
      </p:sp>
      <p:sp>
        <p:nvSpPr>
          <p:cNvPr id="109" name="TextBox 108"/>
          <p:cNvSpPr txBox="1"/>
          <p:nvPr/>
        </p:nvSpPr>
        <p:spPr>
          <a:xfrm>
            <a:off x="502920" y="1463040"/>
            <a:ext cx="813816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000" i="1">
                <a:solidFill>
                  <a:srgbClr val="6B7284"/>
                </a:solidFill>
              </a:rPr>
              <a:t>Indicative monthly run cost for a single-district pilot (finalise once Catalyst tier + LLM provider are locked):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100">
                <a:solidFill>
                  <a:srgbClr val="141828"/>
                </a:solidFill>
              </a:rPr>
              <a:t>•  Zoho Catalyst (AppSail + Datastore + Auth + Cron):  ₹ &lt;tier-based&gt; / month.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100">
                <a:solidFill>
                  <a:srgbClr val="141828"/>
                </a:solidFill>
              </a:rPr>
              <a:t>•  Hosted LLM API (RAG, usage-based):  low — RAG sends only small retrieved context; dev runs on free-tier / OpenRouter.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100">
                <a:solidFill>
                  <a:srgbClr val="141828"/>
                </a:solidFill>
              </a:rPr>
              <a:t>•  Vector DB — Qdrant self-hosted on one small VM:  ₹ &lt;VM cost&gt; / month.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100">
                <a:solidFill>
                  <a:srgbClr val="141828"/>
                </a:solidFill>
              </a:rPr>
              <a:t>•  Embeddings — self-hosted BGE-M3:  one-time corpus embedding on a VM, negligible thereafter.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100">
                <a:solidFill>
                  <a:srgbClr val="141828"/>
                </a:solidFill>
              </a:rPr>
              <a:t>•  No model-training cost — RAG (not fine-tuning) is the single biggest saving vs a custom NLP build.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23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3"/>
          <p:cNvSpPr txBox="1"/>
          <p:nvPr/>
        </p:nvSpPr>
        <p:spPr>
          <a:xfrm>
            <a:off x="219900" y="855225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Snapshots of the prototype</a:t>
            </a:r>
            <a:endParaRPr b="1" sz="1800"/>
          </a:p>
        </p:txBody>
      </p:sp>
      <p:sp>
        <p:nvSpPr>
          <p:cNvPr id="115" name="TextBox 114"/>
          <p:cNvSpPr txBox="1"/>
          <p:nvPr/>
        </p:nvSpPr>
        <p:spPr>
          <a:xfrm>
            <a:off x="502920" y="1454025"/>
            <a:ext cx="8138160" cy="3346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950" i="1">
                <a:solidFill>
                  <a:srgbClr val="6B7284"/>
                </a:solidFill>
              </a:rPr>
              <a:t>Suggested screenshots: login &amp; role pill · dashboard (trends / hotspots) · chat with citations (multilingual) · criminal-network graph · recidivism + SHAP · PDF export.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640080" y="2048384"/>
            <a:ext cx="3886200" cy="1325880"/>
          </a:xfrm>
          <a:prstGeom prst="roundRect">
            <a:avLst/>
          </a:prstGeom>
          <a:solidFill>
            <a:srgbClr val="F4F6FA"/>
          </a:solidFill>
          <a:ln w="15875">
            <a:solidFill>
              <a:srgbClr val="B6BEC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i="1">
                <a:solidFill>
                  <a:srgbClr val="6B7284"/>
                </a:solidFill>
              </a:rPr>
              <a:t>🖼  Dashboard — trends &amp; hotspots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4800600" y="2048384"/>
            <a:ext cx="3886200" cy="1325880"/>
          </a:xfrm>
          <a:prstGeom prst="roundRect">
            <a:avLst/>
          </a:prstGeom>
          <a:solidFill>
            <a:srgbClr val="F4F6FA"/>
          </a:solidFill>
          <a:ln w="15875">
            <a:solidFill>
              <a:srgbClr val="B6BEC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i="1">
                <a:solidFill>
                  <a:srgbClr val="6B7284"/>
                </a:solidFill>
              </a:rPr>
              <a:t>🖼  Chat with citations (EN/HI/KN)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640080" y="3602864"/>
            <a:ext cx="3886200" cy="1325880"/>
          </a:xfrm>
          <a:prstGeom prst="roundRect">
            <a:avLst/>
          </a:prstGeom>
          <a:solidFill>
            <a:srgbClr val="F4F6FA"/>
          </a:solidFill>
          <a:ln w="15875">
            <a:solidFill>
              <a:srgbClr val="B6BEC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i="1">
                <a:solidFill>
                  <a:srgbClr val="6B7284"/>
                </a:solidFill>
              </a:rPr>
              <a:t>🖼  Criminal-network graph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4800600" y="3602864"/>
            <a:ext cx="3886200" cy="1325880"/>
          </a:xfrm>
          <a:prstGeom prst="roundRect">
            <a:avLst/>
          </a:prstGeom>
          <a:solidFill>
            <a:srgbClr val="F4F6FA"/>
          </a:solidFill>
          <a:ln w="15875">
            <a:solidFill>
              <a:srgbClr val="B6BEC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i="1">
                <a:solidFill>
                  <a:srgbClr val="6B7284"/>
                </a:solidFill>
              </a:rPr>
              <a:t>🖼  Recidivism + SHAP (senior view)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24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4"/>
          <p:cNvSpPr txBox="1"/>
          <p:nvPr/>
        </p:nvSpPr>
        <p:spPr>
          <a:xfrm>
            <a:off x="158825" y="806350"/>
            <a:ext cx="8796600" cy="4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Prototype Performance report/Benchmarking</a:t>
            </a:r>
            <a:endParaRPr b="1" sz="1800"/>
          </a:p>
        </p:txBody>
      </p:sp>
      <p:sp>
        <p:nvSpPr>
          <p:cNvPr id="121" name="TextBox 120"/>
          <p:cNvSpPr txBox="1"/>
          <p:nvPr/>
        </p:nvSpPr>
        <p:spPr>
          <a:xfrm>
            <a:off x="502920" y="1371600"/>
            <a:ext cx="813816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100">
                <a:solidFill>
                  <a:srgbClr val="141828"/>
                </a:solidFill>
              </a:rPr>
              <a:t>•  ~120 automated tests, fully offline (no API keys) — CI-ready on every push.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100">
                <a:solidFill>
                  <a:srgbClr val="141828"/>
                </a:solidFill>
              </a:rPr>
              <a:t>•  18 REST endpoints, each role-gated where appropriate (OpenAPI auto-documented at /docs).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100">
                <a:solidFill>
                  <a:srgbClr val="141828"/>
                </a:solidFill>
              </a:rPr>
              <a:t>•  RAG latency = one vector retrieval + one grounded LLM call; prompt caching cuts repeat-query input cost by ~90%.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100">
                <a:solidFill>
                  <a:srgbClr val="141828"/>
                </a:solidFill>
              </a:rPr>
              <a:t>•  PII redaction is deterministic and runs at ingest — never dependent on the LLM 'remembering' to redact.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100">
                <a:solidFill>
                  <a:srgbClr val="141828"/>
                </a:solidFill>
              </a:rPr>
              <a:t>•  Runs on the seed corpus today (demo cases); designed to scale to 1100+ real KSP cases.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000" i="1">
                <a:solidFill>
                  <a:srgbClr val="6B7284"/>
                </a:solidFill>
              </a:rPr>
              <a:t>Insert measured latency / throughput numbers from production once benchmarked.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25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5"/>
          <p:cNvSpPr txBox="1"/>
          <p:nvPr/>
        </p:nvSpPr>
        <p:spPr>
          <a:xfrm>
            <a:off x="457200" y="914400"/>
            <a:ext cx="822960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400"/>
              </a:spcAft>
              <a:buNone/>
            </a:pPr>
            <a:r>
              <a:rPr b="1" sz="1600">
                <a:solidFill>
                  <a:srgbClr val="1A237E"/>
                </a:solidFill>
              </a:rPr>
              <a:t>Provide links to your:</a:t>
            </a:r>
            <a:endParaRPr b="1" sz="1800"/>
          </a:p>
          <a:p>
            <a:pPr>
              <a:spcAft>
                <a:spcPts val="1200"/>
              </a:spcAft>
            </a:pPr>
            <a:r>
              <a:rPr b="1" sz="1350">
                <a:solidFill>
                  <a:srgbClr val="141828"/>
                </a:solidFill>
              </a:rPr>
              <a:t>GitHub (public repository):  </a:t>
            </a:r>
            <a:r>
              <a:rPr sz="1300">
                <a:solidFill>
                  <a:srgbClr val="1A237E"/>
                </a:solidFill>
                <a:hlinkClick r:id="rId4"/>
              </a:rPr>
              <a:t>https://github.com/jayant-01/crime-craft</a:t>
            </a:r>
          </a:p>
          <a:p>
            <a:pPr>
              <a:spcAft>
                <a:spcPts val="1200"/>
              </a:spcAft>
            </a:pPr>
            <a:r>
              <a:rPr b="1" sz="1350">
                <a:solidFill>
                  <a:srgbClr val="141828"/>
                </a:solidFill>
              </a:rPr>
              <a:t>Demo Video (3 minutes):  </a:t>
            </a:r>
            <a:r>
              <a:rPr sz="1300">
                <a:solidFill>
                  <a:srgbClr val="1A237E"/>
                </a:solidFill>
              </a:rPr>
              <a:t>&lt;paste your demo video link here&gt;</a:t>
            </a:r>
          </a:p>
          <a:p>
            <a:pPr>
              <a:spcAft>
                <a:spcPts val="1200"/>
              </a:spcAft>
            </a:pPr>
            <a:r>
              <a:rPr b="1" sz="1350">
                <a:solidFill>
                  <a:srgbClr val="141828"/>
                </a:solidFill>
              </a:rPr>
              <a:t>Deployed link:  </a:t>
            </a:r>
            <a:r>
              <a:rPr sz="1300">
                <a:solidFill>
                  <a:srgbClr val="1A237E"/>
                </a:solidFill>
                <a:hlinkClick r:id="rId5"/>
              </a:rPr>
              <a:t>https://crime-craft-api-50043858253.development.catalystappsail.in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26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6"/>
          <p:cNvSpPr txBox="1"/>
          <p:nvPr/>
        </p:nvSpPr>
        <p:spPr>
          <a:xfrm>
            <a:off x="109950" y="781900"/>
            <a:ext cx="8894100" cy="6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Additional Details/Future Development (if any)</a:t>
            </a:r>
            <a:endParaRPr b="1" sz="1800"/>
          </a:p>
        </p:txBody>
      </p:sp>
      <p:sp>
        <p:nvSpPr>
          <p:cNvPr id="133" name="TextBox 132"/>
          <p:cNvSpPr txBox="1"/>
          <p:nvPr/>
        </p:nvSpPr>
        <p:spPr>
          <a:xfrm>
            <a:off x="502920" y="1478200"/>
            <a:ext cx="8138160" cy="332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100">
                <a:solidFill>
                  <a:srgbClr val="141828"/>
                </a:solidFill>
              </a:rPr>
              <a:t>•  SSO integration with KSP's officer-ID system.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100">
                <a:solidFill>
                  <a:srgbClr val="141828"/>
                </a:solidFill>
              </a:rPr>
              <a:t>•  Flip live providers: swap stubs for Qdrant + BGE-M3 + a production LLM (with India data-residency review; on-prem open model option).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100">
                <a:solidFill>
                  <a:srgbClr val="141828"/>
                </a:solidFill>
              </a:rPr>
              <a:t>•  Bias-audit harness (false-positive parity across demographics) before recidivism scoring goes live.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100">
                <a:solidFill>
                  <a:srgbClr val="141828"/>
                </a:solidFill>
              </a:rPr>
              <a:t>•  Streaming ingest; anomaly detection over the audit log.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100">
                <a:solidFill>
                  <a:srgbClr val="141828"/>
                </a:solidFill>
              </a:rPr>
              <a:t>•  Path-finding queries on the criminal-network graph; predictive crime-trend forecasting.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100">
                <a:solidFill>
                  <a:srgbClr val="141828"/>
                </a:solidFill>
              </a:rPr>
              <a:t>•  Independent academic + KSP ethics review sign-off before any predictive feature launches.</a:t>
            </a: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27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7"/>
          <p:cNvSpPr txBox="1"/>
          <p:nvPr/>
        </p:nvSpPr>
        <p:spPr>
          <a:xfrm>
            <a:off x="146600" y="2249200"/>
            <a:ext cx="8833200" cy="14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endParaRPr b="1" sz="1800"/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28" title="Framwdwdwde 1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